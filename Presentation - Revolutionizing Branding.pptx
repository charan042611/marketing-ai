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3598525" y="2407072"/>
            <a:ext cx="3978275" cy="61125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600" b="0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F336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4049" y="1528444"/>
            <a:ext cx="8677275" cy="1488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600" b="0" i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hyperlink" Target="mailto:hello@reallygreatsite.com" TargetMode="External"/><Relationship Id="rId4" Type="http://schemas.openxmlformats.org/officeDocument/2006/relationships/hyperlink" Target="http://www.reallygreatsite.com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6400" y="0"/>
              <a:ext cx="89915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76274"/>
              <a:ext cx="9296400" cy="0"/>
            </a:xfrm>
            <a:custGeom>
              <a:avLst/>
              <a:gdLst/>
              <a:ahLst/>
              <a:cxnLst/>
              <a:rect l="l" t="t" r="r" b="b"/>
              <a:pathLst>
                <a:path w="9296400" h="0">
                  <a:moveTo>
                    <a:pt x="0" y="0"/>
                  </a:moveTo>
                  <a:lnTo>
                    <a:pt x="929639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54049" y="1172150"/>
            <a:ext cx="1874520" cy="1006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100" spc="-2650" b="1">
                <a:latin typeface="Corbel"/>
                <a:cs typeface="Corbel"/>
              </a:rPr>
              <a:t>B</a:t>
            </a:r>
            <a:r>
              <a:rPr dirty="0" sz="3900" spc="-90" b="1">
                <a:latin typeface="Trebuchet MS"/>
                <a:cs typeface="Trebuchet MS"/>
              </a:rPr>
              <a:t>B</a:t>
            </a:r>
            <a:r>
              <a:rPr dirty="0" sz="6400" spc="-2580" b="1">
                <a:latin typeface="Candara"/>
                <a:cs typeface="Candara"/>
              </a:rPr>
              <a:t>r</a:t>
            </a:r>
            <a:r>
              <a:rPr dirty="0" sz="3900" spc="-95" b="1">
                <a:latin typeface="Trebuchet MS"/>
                <a:cs typeface="Trebuchet MS"/>
              </a:rPr>
              <a:t>r</a:t>
            </a:r>
            <a:r>
              <a:rPr dirty="0" sz="4100" spc="-2215" b="1">
                <a:latin typeface="Corbel"/>
                <a:cs typeface="Corbel"/>
              </a:rPr>
              <a:t>a</a:t>
            </a:r>
            <a:r>
              <a:rPr dirty="0" sz="3900" spc="-95" b="1">
                <a:latin typeface="Trebuchet MS"/>
                <a:cs typeface="Trebuchet MS"/>
              </a:rPr>
              <a:t>a</a:t>
            </a:r>
            <a:r>
              <a:rPr dirty="0" sz="4100" spc="-2370" b="1">
                <a:latin typeface="Corbel"/>
                <a:cs typeface="Corbel"/>
              </a:rPr>
              <a:t>n</a:t>
            </a:r>
            <a:r>
              <a:rPr dirty="0" sz="3900" spc="-95" b="1">
                <a:latin typeface="Trebuchet MS"/>
                <a:cs typeface="Trebuchet MS"/>
              </a:rPr>
              <a:t>n</a:t>
            </a:r>
            <a:r>
              <a:rPr dirty="0" sz="4100" spc="-2385" b="1">
                <a:latin typeface="Corbel"/>
                <a:cs typeface="Corbel"/>
              </a:rPr>
              <a:t>d</a:t>
            </a:r>
            <a:r>
              <a:rPr dirty="0" sz="3900" spc="-95" b="1">
                <a:latin typeface="Trebuchet MS"/>
                <a:cs typeface="Trebuchet MS"/>
              </a:rPr>
              <a:t>d</a:t>
            </a:r>
            <a:r>
              <a:rPr dirty="0" sz="4100" spc="-1120" b="1">
                <a:latin typeface="Corbel"/>
                <a:cs typeface="Corbel"/>
              </a:rPr>
              <a:t>i</a:t>
            </a:r>
            <a:r>
              <a:rPr dirty="0" sz="3900" spc="-95" b="1">
                <a:latin typeface="Trebuchet MS"/>
                <a:cs typeface="Trebuchet MS"/>
              </a:rPr>
              <a:t>i</a:t>
            </a:r>
            <a:r>
              <a:rPr dirty="0" sz="4100" spc="-1435" b="1">
                <a:latin typeface="Corbel"/>
                <a:cs typeface="Corbel"/>
              </a:rPr>
              <a:t>f</a:t>
            </a:r>
            <a:r>
              <a:rPr dirty="0" sz="3900" spc="-95" b="1">
                <a:latin typeface="Trebuchet MS"/>
                <a:cs typeface="Trebuchet MS"/>
              </a:rPr>
              <a:t>f</a:t>
            </a:r>
            <a:r>
              <a:rPr dirty="0" sz="6400" spc="-3260" b="1">
                <a:latin typeface="Candara"/>
                <a:cs typeface="Candara"/>
              </a:rPr>
              <a:t>y</a:t>
            </a:r>
            <a:r>
              <a:rPr dirty="0" sz="3900" spc="-85" b="1">
                <a:latin typeface="Trebuchet MS"/>
                <a:cs typeface="Trebuchet MS"/>
              </a:rPr>
              <a:t>y</a:t>
            </a:r>
            <a:endParaRPr sz="39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049" y="5257482"/>
            <a:ext cx="6920865" cy="4275455"/>
          </a:xfrm>
          <a:prstGeom prst="rect">
            <a:avLst/>
          </a:prstGeom>
        </p:spPr>
        <p:txBody>
          <a:bodyPr wrap="square" lIns="0" tIns="265430" rIns="0" bIns="0" rtlCol="0" vert="horz">
            <a:spAutoFit/>
          </a:bodyPr>
          <a:lstStyle/>
          <a:p>
            <a:pPr marL="12700" marR="5080">
              <a:lnSpc>
                <a:spcPts val="9980"/>
              </a:lnSpc>
              <a:spcBef>
                <a:spcPts val="2090"/>
              </a:spcBef>
            </a:pPr>
            <a:r>
              <a:rPr dirty="0" sz="9950" spc="-1145">
                <a:solidFill>
                  <a:srgbClr val="FFFFFF"/>
                </a:solidFill>
                <a:latin typeface="Palatino Linotype"/>
                <a:cs typeface="Palatino Linotype"/>
              </a:rPr>
              <a:t>Revolutionizing </a:t>
            </a:r>
            <a:r>
              <a:rPr dirty="0" sz="9950" spc="-1135">
                <a:solidFill>
                  <a:srgbClr val="FFFFFF"/>
                </a:solidFill>
                <a:latin typeface="Palatino Linotype"/>
                <a:cs typeface="Palatino Linotype"/>
              </a:rPr>
              <a:t>Branding</a:t>
            </a:r>
            <a:endParaRPr sz="9950">
              <a:latin typeface="Palatino Linotype"/>
              <a:cs typeface="Palatino Linotype"/>
            </a:endParaRPr>
          </a:p>
          <a:p>
            <a:pPr marL="12700" marR="296545">
              <a:lnSpc>
                <a:spcPts val="3300"/>
              </a:lnSpc>
              <a:spcBef>
                <a:spcPts val="5010"/>
              </a:spcBef>
            </a:pPr>
            <a:r>
              <a:rPr dirty="0" sz="2800" spc="-90">
                <a:solidFill>
                  <a:srgbClr val="FFFFFF"/>
                </a:solidFill>
                <a:latin typeface="Arial"/>
                <a:cs typeface="Arial"/>
              </a:rPr>
              <a:t>Presented</a:t>
            </a:r>
            <a:r>
              <a:rPr dirty="0" sz="28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2800" spc="-1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Arial"/>
                <a:cs typeface="Arial"/>
              </a:rPr>
              <a:t>[Your</a:t>
            </a:r>
            <a:r>
              <a:rPr dirty="0" sz="28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65">
                <a:solidFill>
                  <a:srgbClr val="FFFFFF"/>
                </a:solidFill>
                <a:latin typeface="Arial"/>
                <a:cs typeface="Arial"/>
              </a:rPr>
              <a:t>Name]</a:t>
            </a:r>
            <a:r>
              <a:rPr dirty="0" sz="28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28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30">
                <a:solidFill>
                  <a:srgbClr val="FFFFFF"/>
                </a:solidFill>
                <a:latin typeface="Arial"/>
                <a:cs typeface="Arial"/>
              </a:rPr>
              <a:t>February</a:t>
            </a:r>
            <a:r>
              <a:rPr dirty="0" sz="28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25">
                <a:solidFill>
                  <a:srgbClr val="FFFFFF"/>
                </a:solidFill>
                <a:latin typeface="Arial"/>
                <a:cs typeface="Arial"/>
              </a:rPr>
              <a:t>26, </a:t>
            </a:r>
            <a:r>
              <a:rPr dirty="0" sz="2800" spc="-20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049" y="5975381"/>
            <a:ext cx="265620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0" b="1">
                <a:solidFill>
                  <a:srgbClr val="FFFFFF"/>
                </a:solidFill>
                <a:latin typeface="Trebuchet MS"/>
                <a:cs typeface="Trebuchet MS"/>
              </a:rPr>
              <a:t>Costly</a:t>
            </a:r>
            <a:r>
              <a:rPr dirty="0" sz="2800" spc="-16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55" b="1">
                <a:solidFill>
                  <a:srgbClr val="FFFFFF"/>
                </a:solidFill>
                <a:latin typeface="Trebuchet MS"/>
                <a:cs typeface="Trebuchet MS"/>
              </a:rPr>
              <a:t>Processes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049" y="6883400"/>
            <a:ext cx="6825615" cy="14770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Startups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creators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often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face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0" b="1">
                <a:solidFill>
                  <a:srgbClr val="FFFFFF"/>
                </a:solidFill>
                <a:latin typeface="Arial"/>
                <a:cs typeface="Arial"/>
              </a:rPr>
              <a:t>time-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consuming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branding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processes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drain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resources.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High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costs 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hinder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ability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effectively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establish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presence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competitive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markets.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83700" y="5975381"/>
            <a:ext cx="31661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75" b="1">
                <a:solidFill>
                  <a:srgbClr val="FFFFFF"/>
                </a:solidFill>
                <a:latin typeface="Trebuchet MS"/>
                <a:cs typeface="Trebuchet MS"/>
              </a:rPr>
              <a:t>Inconsistent</a:t>
            </a:r>
            <a:r>
              <a:rPr dirty="0" sz="2800" spc="-15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40" b="1">
                <a:solidFill>
                  <a:srgbClr val="FFFFFF"/>
                </a:solidFill>
                <a:latin typeface="Trebuchet MS"/>
                <a:cs typeface="Trebuchet MS"/>
              </a:rPr>
              <a:t>Quality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3700" y="6883400"/>
            <a:ext cx="6898005" cy="14770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Achieving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consistent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brand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identity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content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proves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challenging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many.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Variability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in branding</a:t>
            </a:r>
            <a:r>
              <a:rPr dirty="0" sz="24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confuse</a:t>
            </a:r>
            <a:r>
              <a:rPr dirty="0" sz="24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customers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weaken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overall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brand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recognition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marketplace.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95"/>
              <a:t>Branding</a:t>
            </a:r>
            <a:r>
              <a:rPr dirty="0" spc="-1070"/>
              <a:t> </a:t>
            </a:r>
            <a:r>
              <a:rPr dirty="0" spc="-1170"/>
              <a:t>Challenges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049" y="3289331"/>
            <a:ext cx="542861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80" b="1">
                <a:solidFill>
                  <a:srgbClr val="FFFFFF"/>
                </a:solidFill>
                <a:latin typeface="Trebuchet MS"/>
                <a:cs typeface="Trebuchet MS"/>
              </a:rPr>
              <a:t>Overcoming</a:t>
            </a:r>
            <a:r>
              <a:rPr dirty="0" sz="2800" spc="-1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50" b="1">
                <a:solidFill>
                  <a:srgbClr val="FFFFFF"/>
                </a:solidFill>
                <a:latin typeface="Trebuchet MS"/>
                <a:cs typeface="Trebuchet MS"/>
              </a:rPr>
              <a:t>Obstacles</a:t>
            </a:r>
            <a:r>
              <a:rPr dirty="0" sz="2800" spc="-1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114" b="1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2800" spc="-14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rebuchet MS"/>
                <a:cs typeface="Trebuchet MS"/>
              </a:rPr>
              <a:t>Branding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 h="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 h="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45425" y="5352446"/>
            <a:ext cx="8230234" cy="2385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60" b="1">
                <a:solidFill>
                  <a:srgbClr val="FFFFFF"/>
                </a:solidFill>
                <a:latin typeface="Trebuchet MS"/>
                <a:cs typeface="Trebuchet MS"/>
              </a:rPr>
              <a:t>Branding</a:t>
            </a:r>
            <a:r>
              <a:rPr dirty="0" sz="2800" spc="-1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60" b="1">
                <a:solidFill>
                  <a:srgbClr val="FFFFFF"/>
                </a:solidFill>
                <a:latin typeface="Trebuchet MS"/>
                <a:cs typeface="Trebuchet MS"/>
              </a:rPr>
              <a:t>Consistency</a:t>
            </a:r>
            <a:r>
              <a:rPr dirty="0" sz="28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rebuchet MS"/>
                <a:cs typeface="Trebuchet MS"/>
              </a:rPr>
              <a:t>Struggles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2800">
              <a:latin typeface="Trebuchet MS"/>
              <a:cs typeface="Trebuchet MS"/>
            </a:endParaRPr>
          </a:p>
          <a:p>
            <a:pPr marL="12700" marR="5080">
              <a:lnSpc>
                <a:spcPts val="2850"/>
              </a:lnSpc>
            </a:pP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statistic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highlights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significant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challenge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faced</a:t>
            </a:r>
            <a:r>
              <a:rPr dirty="0" sz="24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by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startups,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emphasizing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need </a:t>
            </a:r>
            <a:r>
              <a:rPr dirty="0" sz="2400" spc="7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efficient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branding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solutions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24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ensure</a:t>
            </a:r>
            <a:r>
              <a:rPr dirty="0" sz="2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35" b="1">
                <a:solidFill>
                  <a:srgbClr val="FFFFFF"/>
                </a:solidFill>
                <a:latin typeface="Arial"/>
                <a:cs typeface="Arial"/>
              </a:rPr>
              <a:t>consistency</a:t>
            </a:r>
            <a:r>
              <a:rPr dirty="0" sz="2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5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40" b="1">
                <a:solidFill>
                  <a:srgbClr val="FFFFFF"/>
                </a:solidFill>
                <a:latin typeface="Arial"/>
                <a:cs typeface="Arial"/>
              </a:rPr>
              <a:t>speed</a:t>
            </a:r>
            <a:r>
              <a:rPr dirty="0" sz="24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dirty="0" sz="2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development processes.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45425" y="2479039"/>
            <a:ext cx="2811145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400" spc="-1570">
                <a:solidFill>
                  <a:srgbClr val="FFFFFF"/>
                </a:solidFill>
                <a:latin typeface="Palatino Linotype"/>
                <a:cs typeface="Palatino Linotype"/>
              </a:rPr>
              <a:t>70%</a:t>
            </a:r>
            <a:endParaRPr sz="144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667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 h="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 h="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4049" y="1532337"/>
            <a:ext cx="4218305" cy="3776979"/>
          </a:xfrm>
          <a:prstGeom prst="rect"/>
        </p:spPr>
        <p:txBody>
          <a:bodyPr wrap="square" lIns="0" tIns="248285" rIns="0" bIns="0" rtlCol="0" vert="horz">
            <a:spAutoFit/>
          </a:bodyPr>
          <a:lstStyle/>
          <a:p>
            <a:pPr marL="12700" marR="5080">
              <a:lnSpc>
                <a:spcPts val="9230"/>
              </a:lnSpc>
              <a:spcBef>
                <a:spcPts val="1955"/>
              </a:spcBef>
            </a:pPr>
            <a:r>
              <a:rPr dirty="0" sz="9200" spc="-960"/>
              <a:t>Integrated </a:t>
            </a:r>
            <a:r>
              <a:rPr dirty="0" sz="9200" spc="-1050"/>
              <a:t>Branding </a:t>
            </a:r>
            <a:r>
              <a:rPr dirty="0" sz="9200" spc="-1635"/>
              <a:t>W</a:t>
            </a:r>
            <a:r>
              <a:rPr dirty="0" sz="9200" spc="-1180"/>
              <a:t>o</a:t>
            </a:r>
            <a:r>
              <a:rPr dirty="0" sz="9200" spc="-1155"/>
              <a:t>r</a:t>
            </a:r>
            <a:r>
              <a:rPr dirty="0" sz="9200" spc="-1185"/>
              <a:t>k</a:t>
            </a:r>
            <a:r>
              <a:rPr dirty="0" sz="9200" spc="-1170"/>
              <a:t>f</a:t>
            </a:r>
            <a:r>
              <a:rPr dirty="0" sz="9200" spc="-1175"/>
              <a:t>l</a:t>
            </a:r>
            <a:r>
              <a:rPr dirty="0" sz="9200" spc="-1180"/>
              <a:t>o</a:t>
            </a:r>
            <a:r>
              <a:rPr dirty="0" sz="9200" spc="-940"/>
              <a:t>w</a:t>
            </a:r>
            <a:endParaRPr sz="9200"/>
          </a:p>
        </p:txBody>
      </p:sp>
      <p:sp>
        <p:nvSpPr>
          <p:cNvPr id="3" name="object 3"/>
          <p:cNvSpPr txBox="1"/>
          <p:nvPr/>
        </p:nvSpPr>
        <p:spPr>
          <a:xfrm>
            <a:off x="654049" y="6198933"/>
            <a:ext cx="5447665" cy="250380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2750" spc="-45" b="1">
                <a:solidFill>
                  <a:srgbClr val="FFFFFF"/>
                </a:solidFill>
                <a:latin typeface="Trebuchet MS"/>
                <a:cs typeface="Trebuchet MS"/>
              </a:rPr>
              <a:t>Seamless</a:t>
            </a:r>
            <a:r>
              <a:rPr dirty="0" sz="2750" spc="-1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750" spc="-10" b="1">
                <a:solidFill>
                  <a:srgbClr val="FFFFFF"/>
                </a:solidFill>
                <a:latin typeface="Trebuchet MS"/>
                <a:cs typeface="Trebuchet MS"/>
              </a:rPr>
              <a:t>Automation</a:t>
            </a:r>
            <a:endParaRPr sz="2750">
              <a:latin typeface="Trebuchet MS"/>
              <a:cs typeface="Trebuchet MS"/>
            </a:endParaRPr>
          </a:p>
          <a:p>
            <a:pPr marL="12700" marR="5080">
              <a:lnSpc>
                <a:spcPts val="2770"/>
              </a:lnSpc>
              <a:spcBef>
                <a:spcPts val="2405"/>
              </a:spcBef>
            </a:pP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dirty="0" sz="23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platform</a:t>
            </a:r>
            <a:r>
              <a:rPr dirty="0" sz="235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Arial"/>
                <a:cs typeface="Arial"/>
              </a:rPr>
              <a:t>simplifies</a:t>
            </a:r>
            <a:r>
              <a:rPr dirty="0" sz="235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Arial"/>
                <a:cs typeface="Arial"/>
              </a:rPr>
              <a:t>brand </a:t>
            </a:r>
            <a:r>
              <a:rPr dirty="0" sz="2350" spc="-30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r>
              <a:rPr dirty="0" sz="235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235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20">
                <a:solidFill>
                  <a:srgbClr val="FFFFFF"/>
                </a:solidFill>
                <a:latin typeface="Arial"/>
                <a:cs typeface="Arial"/>
              </a:rPr>
              <a:t>automating</a:t>
            </a:r>
            <a:r>
              <a:rPr dirty="0" sz="235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10" b="1">
                <a:solidFill>
                  <a:srgbClr val="FFFFFF"/>
                </a:solidFill>
                <a:latin typeface="Arial"/>
                <a:cs typeface="Arial"/>
              </a:rPr>
              <a:t>identity </a:t>
            </a:r>
            <a:r>
              <a:rPr dirty="0" sz="2350" spc="-45" b="1">
                <a:solidFill>
                  <a:srgbClr val="FFFFFF"/>
                </a:solidFill>
                <a:latin typeface="Arial"/>
                <a:cs typeface="Arial"/>
              </a:rPr>
              <a:t>creation</a:t>
            </a:r>
            <a:r>
              <a:rPr dirty="0" sz="2350" spc="-45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dirty="0" sz="235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dirty="0" sz="235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>
                <a:solidFill>
                  <a:srgbClr val="FFFFFF"/>
                </a:solidFill>
                <a:latin typeface="Arial"/>
                <a:cs typeface="Arial"/>
              </a:rPr>
              <a:t>writing,</a:t>
            </a:r>
            <a:r>
              <a:rPr dirty="0" sz="235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35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40">
                <a:solidFill>
                  <a:srgbClr val="FFFFFF"/>
                </a:solidFill>
                <a:latin typeface="Arial"/>
                <a:cs typeface="Arial"/>
              </a:rPr>
              <a:t>visual</a:t>
            </a:r>
            <a:r>
              <a:rPr dirty="0" sz="235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35">
                <a:solidFill>
                  <a:srgbClr val="FFFFFF"/>
                </a:solidFill>
                <a:latin typeface="Arial"/>
                <a:cs typeface="Arial"/>
              </a:rPr>
              <a:t>asset </a:t>
            </a:r>
            <a:r>
              <a:rPr dirty="0" sz="2350" spc="-20">
                <a:solidFill>
                  <a:srgbClr val="FFFFFF"/>
                </a:solidFill>
                <a:latin typeface="Arial"/>
                <a:cs typeface="Arial"/>
              </a:rPr>
              <a:t>generation,</a:t>
            </a:r>
            <a:r>
              <a:rPr dirty="0" sz="235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40">
                <a:solidFill>
                  <a:srgbClr val="FFFFFF"/>
                </a:solidFill>
                <a:latin typeface="Arial"/>
                <a:cs typeface="Arial"/>
              </a:rPr>
              <a:t>ensuring</a:t>
            </a:r>
            <a:r>
              <a:rPr dirty="0" sz="235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50">
                <a:solidFill>
                  <a:srgbClr val="FFFFFF"/>
                </a:solidFill>
                <a:latin typeface="Arial"/>
                <a:cs typeface="Arial"/>
              </a:rPr>
              <a:t>consistency</a:t>
            </a:r>
            <a:r>
              <a:rPr dirty="0" sz="235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350" spc="-85">
                <a:solidFill>
                  <a:srgbClr val="FFFFFF"/>
                </a:solidFill>
                <a:latin typeface="Arial"/>
                <a:cs typeface="Arial"/>
              </a:rPr>
              <a:t>speed</a:t>
            </a:r>
            <a:r>
              <a:rPr dirty="0" sz="235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7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35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Arial"/>
                <a:cs typeface="Arial"/>
              </a:rPr>
              <a:t>startups</a:t>
            </a:r>
            <a:r>
              <a:rPr dirty="0" sz="235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25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35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Arial"/>
                <a:cs typeface="Arial"/>
              </a:rPr>
              <a:t>creators</a:t>
            </a:r>
            <a:r>
              <a:rPr dirty="0" sz="235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50" spc="-10">
                <a:solidFill>
                  <a:srgbClr val="FFFFFF"/>
                </a:solidFill>
                <a:latin typeface="Arial"/>
                <a:cs typeface="Arial"/>
              </a:rPr>
              <a:t>alike.</a:t>
            </a:r>
            <a:endParaRPr sz="23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object 5"/>
            <p:cNvSpPr/>
            <p:nvPr/>
          </p:nvSpPr>
          <p:spPr>
            <a:xfrm>
              <a:off x="0" y="676274"/>
              <a:ext cx="12172950" cy="0"/>
            </a:xfrm>
            <a:custGeom>
              <a:avLst/>
              <a:gdLst/>
              <a:ahLst/>
              <a:cxnLst/>
              <a:rect l="l" t="t" r="r" b="b"/>
              <a:pathLst>
                <a:path w="12172950" h="0">
                  <a:moveTo>
                    <a:pt x="0" y="0"/>
                  </a:moveTo>
                  <a:lnTo>
                    <a:pt x="1217294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9629774"/>
              <a:ext cx="12172950" cy="0"/>
            </a:xfrm>
            <a:custGeom>
              <a:avLst/>
              <a:gdLst/>
              <a:ahLst/>
              <a:cxnLst/>
              <a:rect l="l" t="t" r="r" b="b"/>
              <a:pathLst>
                <a:path w="12172950" h="0">
                  <a:moveTo>
                    <a:pt x="0" y="0"/>
                  </a:moveTo>
                  <a:lnTo>
                    <a:pt x="1217294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58125" y="0"/>
              <a:ext cx="10429874" cy="10286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049" y="1529289"/>
            <a:ext cx="6111875" cy="3926840"/>
          </a:xfrm>
          <a:prstGeom prst="rect">
            <a:avLst/>
          </a:prstGeom>
        </p:spPr>
        <p:txBody>
          <a:bodyPr wrap="square" lIns="0" tIns="256540" rIns="0" bIns="0" rtlCol="0" vert="horz">
            <a:spAutoFit/>
          </a:bodyPr>
          <a:lstStyle/>
          <a:p>
            <a:pPr marL="12700" marR="5080">
              <a:lnSpc>
                <a:spcPts val="9600"/>
              </a:lnSpc>
              <a:spcBef>
                <a:spcPts val="2020"/>
              </a:spcBef>
            </a:pPr>
            <a:r>
              <a:rPr dirty="0" sz="9600" spc="-1025">
                <a:solidFill>
                  <a:srgbClr val="FFFFFF"/>
                </a:solidFill>
                <a:latin typeface="Palatino Linotype"/>
                <a:cs typeface="Palatino Linotype"/>
              </a:rPr>
              <a:t>Elevate</a:t>
            </a:r>
            <a:r>
              <a:rPr dirty="0" sz="9600" spc="-108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9600" spc="-1900">
                <a:solidFill>
                  <a:srgbClr val="FFFFFF"/>
                </a:solidFill>
                <a:latin typeface="Palatino Linotype"/>
                <a:cs typeface="Palatino Linotype"/>
              </a:rPr>
              <a:t>Y</a:t>
            </a:r>
            <a:r>
              <a:rPr dirty="0" sz="9600" spc="-1315">
                <a:solidFill>
                  <a:srgbClr val="FFFFFF"/>
                </a:solidFill>
                <a:latin typeface="Palatino Linotype"/>
                <a:cs typeface="Palatino Linotype"/>
              </a:rPr>
              <a:t>ou</a:t>
            </a:r>
            <a:r>
              <a:rPr dirty="0" sz="9600" spc="-1070">
                <a:solidFill>
                  <a:srgbClr val="FFFFFF"/>
                </a:solidFill>
                <a:latin typeface="Palatino Linotype"/>
                <a:cs typeface="Palatino Linotype"/>
              </a:rPr>
              <a:t>r</a:t>
            </a:r>
            <a:r>
              <a:rPr dirty="0" sz="9600" spc="-140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9600" spc="-1085">
                <a:solidFill>
                  <a:srgbClr val="FFFFFF"/>
                </a:solidFill>
                <a:latin typeface="Palatino Linotype"/>
                <a:cs typeface="Palatino Linotype"/>
              </a:rPr>
              <a:t>Brand</a:t>
            </a:r>
            <a:r>
              <a:rPr dirty="0" sz="9600" spc="-109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9600" spc="-994">
                <a:solidFill>
                  <a:srgbClr val="FFFFFF"/>
                </a:solidFill>
                <a:latin typeface="Palatino Linotype"/>
                <a:cs typeface="Palatino Linotype"/>
              </a:rPr>
              <a:t>Identity </a:t>
            </a:r>
            <a:r>
              <a:rPr dirty="0" sz="9600" spc="-965">
                <a:solidFill>
                  <a:srgbClr val="FFFFFF"/>
                </a:solidFill>
                <a:latin typeface="Palatino Linotype"/>
                <a:cs typeface="Palatino Linotype"/>
              </a:rPr>
              <a:t>Effortlessly</a:t>
            </a:r>
            <a:endParaRPr sz="9600">
              <a:latin typeface="Palatino Linotype"/>
              <a:cs typeface="Palatino Linotyp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1562944"/>
            <a:ext cx="4006545" cy="21684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4049740"/>
            <a:ext cx="4006911" cy="21918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6400" y="6559903"/>
            <a:ext cx="4008625" cy="2164995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3598525" y="1498631"/>
            <a:ext cx="93599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30" b="1">
                <a:latin typeface="Trebuchet MS"/>
                <a:cs typeface="Trebuchet MS"/>
              </a:rPr>
              <a:t>Logos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98525" y="2407072"/>
            <a:ext cx="3962400" cy="61125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AI-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generated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logos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tailored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unique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vision.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-10" b="1">
                <a:solidFill>
                  <a:srgbClr val="FFFFFF"/>
                </a:solidFill>
                <a:latin typeface="Trebuchet MS"/>
                <a:cs typeface="Trebuchet MS"/>
              </a:rPr>
              <a:t>Guidelines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2800">
              <a:latin typeface="Trebuchet MS"/>
              <a:cs typeface="Trebuchet MS"/>
            </a:endParaRPr>
          </a:p>
          <a:p>
            <a:pPr marL="12700" marR="238125">
              <a:lnSpc>
                <a:spcPts val="2850"/>
              </a:lnSpc>
              <a:spcBef>
                <a:spcPts val="5"/>
              </a:spcBef>
            </a:pP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Automated</a:t>
            </a:r>
            <a:r>
              <a:rPr dirty="0" sz="24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brand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guidelines 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ensure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consistency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across platforms.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800" spc="-10" b="1">
                <a:solidFill>
                  <a:srgbClr val="FFFFFF"/>
                </a:solidFill>
                <a:latin typeface="Trebuchet MS"/>
                <a:cs typeface="Trebuchet MS"/>
              </a:rPr>
              <a:t>Templates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2800">
              <a:latin typeface="Trebuchet MS"/>
              <a:cs typeface="Trebuchet MS"/>
            </a:endParaRPr>
          </a:p>
          <a:p>
            <a:pPr marL="12700" marR="501650">
              <a:lnSpc>
                <a:spcPts val="2850"/>
              </a:lnSpc>
            </a:pP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Customizable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templates 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guarantee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uniqueness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flexibility.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6667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 h="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 h="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049" y="1529289"/>
            <a:ext cx="6871334" cy="3926840"/>
          </a:xfrm>
          <a:prstGeom prst="rect">
            <a:avLst/>
          </a:prstGeom>
        </p:spPr>
        <p:txBody>
          <a:bodyPr wrap="square" lIns="0" tIns="256540" rIns="0" bIns="0" rtlCol="0" vert="horz">
            <a:spAutoFit/>
          </a:bodyPr>
          <a:lstStyle/>
          <a:p>
            <a:pPr marL="12700" marR="5080">
              <a:lnSpc>
                <a:spcPts val="9600"/>
              </a:lnSpc>
              <a:spcBef>
                <a:spcPts val="2020"/>
              </a:spcBef>
            </a:pPr>
            <a:r>
              <a:rPr dirty="0" sz="9600" spc="-1015">
                <a:solidFill>
                  <a:srgbClr val="FFFFFF"/>
                </a:solidFill>
                <a:latin typeface="Palatino Linotype"/>
                <a:cs typeface="Palatino Linotype"/>
              </a:rPr>
              <a:t>Streamlining </a:t>
            </a:r>
            <a:r>
              <a:rPr dirty="0" sz="9600" spc="-1195">
                <a:solidFill>
                  <a:srgbClr val="FFFFFF"/>
                </a:solidFill>
                <a:latin typeface="Palatino Linotype"/>
                <a:cs typeface="Palatino Linotype"/>
              </a:rPr>
              <a:t>Content </a:t>
            </a:r>
            <a:r>
              <a:rPr dirty="0" sz="9600" spc="-1080">
                <a:solidFill>
                  <a:srgbClr val="FFFFFF"/>
                </a:solidFill>
                <a:latin typeface="Palatino Linotype"/>
                <a:cs typeface="Palatino Linotype"/>
              </a:rPr>
              <a:t>Creation</a:t>
            </a:r>
            <a:r>
              <a:rPr dirty="0" sz="9600" spc="-110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9600" spc="-1070">
                <a:solidFill>
                  <a:srgbClr val="FFFFFF"/>
                </a:solidFill>
                <a:latin typeface="Palatino Linotype"/>
                <a:cs typeface="Palatino Linotype"/>
              </a:rPr>
              <a:t>with</a:t>
            </a:r>
            <a:r>
              <a:rPr dirty="0" sz="9600" spc="-110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9600" spc="-1610">
                <a:solidFill>
                  <a:srgbClr val="FFFFFF"/>
                </a:solidFill>
                <a:latin typeface="Palatino Linotype"/>
                <a:cs typeface="Palatino Linotype"/>
              </a:rPr>
              <a:t>AI</a:t>
            </a:r>
            <a:endParaRPr sz="9600">
              <a:latin typeface="Palatino Linotype"/>
              <a:cs typeface="Palatino Linotyp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1562944"/>
            <a:ext cx="4006545" cy="216844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4049740"/>
            <a:ext cx="4006911" cy="219181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6400" y="6559903"/>
            <a:ext cx="4008625" cy="2164995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3598525" y="1498631"/>
            <a:ext cx="214376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60" b="1">
                <a:latin typeface="Trebuchet MS"/>
                <a:cs typeface="Trebuchet MS"/>
              </a:rPr>
              <a:t>Brand</a:t>
            </a:r>
            <a:r>
              <a:rPr dirty="0" sz="2800" spc="-114" b="1">
                <a:latin typeface="Trebuchet MS"/>
                <a:cs typeface="Trebuchet MS"/>
              </a:rPr>
              <a:t> </a:t>
            </a:r>
            <a:r>
              <a:rPr dirty="0" sz="2800" spc="-50" b="1">
                <a:latin typeface="Trebuchet MS"/>
                <a:cs typeface="Trebuchet MS"/>
              </a:rPr>
              <a:t>Stories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/>
              <a:t>AI</a:t>
            </a:r>
            <a:r>
              <a:rPr dirty="0" spc="-75"/>
              <a:t> </a:t>
            </a:r>
            <a:r>
              <a:rPr dirty="0" spc="-45"/>
              <a:t>creates</a:t>
            </a:r>
            <a:r>
              <a:rPr dirty="0" spc="-75"/>
              <a:t> </a:t>
            </a:r>
            <a:r>
              <a:rPr dirty="0" spc="-90"/>
              <a:t>engaging</a:t>
            </a:r>
            <a:r>
              <a:rPr dirty="0" spc="-75"/>
              <a:t> </a:t>
            </a:r>
            <a:r>
              <a:rPr dirty="0" spc="-30"/>
              <a:t>narratives </a:t>
            </a:r>
            <a:r>
              <a:rPr dirty="0"/>
              <a:t>that</a:t>
            </a:r>
            <a:r>
              <a:rPr dirty="0" spc="-25"/>
              <a:t> </a:t>
            </a:r>
            <a:r>
              <a:rPr dirty="0" spc="-40"/>
              <a:t>resonate</a:t>
            </a:r>
            <a:r>
              <a:rPr dirty="0" spc="-20"/>
              <a:t> </a:t>
            </a:r>
            <a:r>
              <a:rPr dirty="0" spc="-10"/>
              <a:t>deeply.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090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100" b="1">
                <a:latin typeface="Trebuchet MS"/>
                <a:cs typeface="Trebuchet MS"/>
              </a:rPr>
              <a:t>SEO</a:t>
            </a:r>
            <a:r>
              <a:rPr dirty="0" sz="2800" spc="-155" b="1">
                <a:latin typeface="Trebuchet MS"/>
                <a:cs typeface="Trebuchet MS"/>
              </a:rPr>
              <a:t> </a:t>
            </a:r>
            <a:r>
              <a:rPr dirty="0" sz="2800" spc="-10" b="1">
                <a:latin typeface="Trebuchet MS"/>
                <a:cs typeface="Trebuchet MS"/>
              </a:rPr>
              <a:t>Optimization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2800">
              <a:latin typeface="Trebuchet MS"/>
              <a:cs typeface="Trebuchet MS"/>
            </a:endParaRPr>
          </a:p>
          <a:p>
            <a:pPr marL="12700" marR="93980">
              <a:lnSpc>
                <a:spcPts val="2850"/>
              </a:lnSpc>
              <a:spcBef>
                <a:spcPts val="5"/>
              </a:spcBef>
            </a:pPr>
            <a:r>
              <a:rPr dirty="0"/>
              <a:t>AI</a:t>
            </a:r>
            <a:r>
              <a:rPr dirty="0" spc="-110"/>
              <a:t> </a:t>
            </a:r>
            <a:r>
              <a:rPr dirty="0" spc="-85"/>
              <a:t>ensures</a:t>
            </a:r>
            <a:r>
              <a:rPr dirty="0" spc="-80"/>
              <a:t> </a:t>
            </a:r>
            <a:r>
              <a:rPr dirty="0"/>
              <a:t>content</a:t>
            </a:r>
            <a:r>
              <a:rPr dirty="0" spc="-95"/>
              <a:t> </a:t>
            </a:r>
            <a:r>
              <a:rPr dirty="0" spc="-30"/>
              <a:t>ranks</a:t>
            </a:r>
            <a:r>
              <a:rPr dirty="0" spc="-95"/>
              <a:t> </a:t>
            </a:r>
            <a:r>
              <a:rPr dirty="0" spc="-20"/>
              <a:t>well </a:t>
            </a:r>
            <a:r>
              <a:rPr dirty="0"/>
              <a:t>on</a:t>
            </a:r>
            <a:r>
              <a:rPr dirty="0" spc="-70"/>
              <a:t> search </a:t>
            </a:r>
            <a:r>
              <a:rPr dirty="0" spc="-10"/>
              <a:t>engines.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275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-90" b="1">
                <a:latin typeface="Trebuchet MS"/>
                <a:cs typeface="Trebuchet MS"/>
              </a:rPr>
              <a:t>Adaptive</a:t>
            </a:r>
            <a:r>
              <a:rPr dirty="0" sz="2800" spc="-150" b="1">
                <a:latin typeface="Trebuchet MS"/>
                <a:cs typeface="Trebuchet MS"/>
              </a:rPr>
              <a:t> </a:t>
            </a:r>
            <a:r>
              <a:rPr dirty="0" sz="2800" spc="-20" b="1">
                <a:latin typeface="Trebuchet MS"/>
                <a:cs typeface="Trebuchet MS"/>
              </a:rPr>
              <a:t>Style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2800">
              <a:latin typeface="Trebuchet MS"/>
              <a:cs typeface="Trebuchet MS"/>
            </a:endParaRPr>
          </a:p>
          <a:p>
            <a:pPr marL="12700" marR="735965">
              <a:lnSpc>
                <a:spcPts val="2850"/>
              </a:lnSpc>
            </a:pPr>
            <a:r>
              <a:rPr dirty="0"/>
              <a:t>Writing</a:t>
            </a:r>
            <a:r>
              <a:rPr dirty="0" spc="-10"/>
              <a:t> </a:t>
            </a:r>
            <a:r>
              <a:rPr dirty="0" spc="-45"/>
              <a:t>adjusts</a:t>
            </a:r>
            <a:r>
              <a:rPr dirty="0" spc="-5"/>
              <a:t> </a:t>
            </a:r>
            <a:r>
              <a:rPr dirty="0" spc="50"/>
              <a:t>to</a:t>
            </a:r>
            <a:r>
              <a:rPr dirty="0" spc="-10"/>
              <a:t> match </a:t>
            </a:r>
            <a:r>
              <a:rPr dirty="0" spc="-20"/>
              <a:t>unique</a:t>
            </a:r>
            <a:r>
              <a:rPr dirty="0" spc="-114"/>
              <a:t> </a:t>
            </a:r>
            <a:r>
              <a:rPr dirty="0"/>
              <a:t>brand</a:t>
            </a:r>
            <a:r>
              <a:rPr dirty="0" spc="-114"/>
              <a:t> </a:t>
            </a:r>
            <a:r>
              <a:rPr dirty="0" spc="-10"/>
              <a:t>voices effortlessly.</a:t>
            </a:r>
          </a:p>
        </p:txBody>
      </p:sp>
      <p:sp>
        <p:nvSpPr>
          <p:cNvPr id="8" name="object 8"/>
          <p:cNvSpPr/>
          <p:nvPr/>
        </p:nvSpPr>
        <p:spPr>
          <a:xfrm>
            <a:off x="0" y="6667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 h="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 h="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D4A7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54049" y="1529289"/>
            <a:ext cx="6275070" cy="3926840"/>
          </a:xfrm>
          <a:prstGeom prst="rect">
            <a:avLst/>
          </a:prstGeom>
        </p:spPr>
        <p:txBody>
          <a:bodyPr wrap="square" lIns="0" tIns="256540" rIns="0" bIns="0" rtlCol="0" vert="horz">
            <a:spAutoFit/>
          </a:bodyPr>
          <a:lstStyle/>
          <a:p>
            <a:pPr marL="12700" marR="5080">
              <a:lnSpc>
                <a:spcPts val="9600"/>
              </a:lnSpc>
              <a:spcBef>
                <a:spcPts val="2020"/>
              </a:spcBef>
            </a:pPr>
            <a:r>
              <a:rPr dirty="0" sz="9600" spc="-1085">
                <a:solidFill>
                  <a:srgbClr val="FFFFFF"/>
                </a:solidFill>
                <a:latin typeface="Palatino Linotype"/>
                <a:cs typeface="Palatino Linotype"/>
              </a:rPr>
              <a:t>Enhancing </a:t>
            </a:r>
            <a:r>
              <a:rPr dirty="0" sz="9600" spc="-1120">
                <a:solidFill>
                  <a:srgbClr val="FFFFFF"/>
                </a:solidFill>
                <a:latin typeface="Palatino Linotype"/>
                <a:cs typeface="Palatino Linotype"/>
              </a:rPr>
              <a:t>Visuals</a:t>
            </a:r>
            <a:r>
              <a:rPr dirty="0" sz="9600" spc="-10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9600" spc="-1070">
                <a:solidFill>
                  <a:srgbClr val="FFFFFF"/>
                </a:solidFill>
                <a:latin typeface="Palatino Linotype"/>
                <a:cs typeface="Palatino Linotype"/>
              </a:rPr>
              <a:t>with</a:t>
            </a:r>
            <a:r>
              <a:rPr dirty="0" sz="9600" spc="-1085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dirty="0" sz="9600" spc="-1610">
                <a:solidFill>
                  <a:srgbClr val="FFFFFF"/>
                </a:solidFill>
                <a:latin typeface="Palatino Linotype"/>
                <a:cs typeface="Palatino Linotype"/>
              </a:rPr>
              <a:t>AI </a:t>
            </a:r>
            <a:r>
              <a:rPr dirty="0" sz="9600" spc="-1075">
                <a:solidFill>
                  <a:srgbClr val="FFFFFF"/>
                </a:solidFill>
                <a:latin typeface="Palatino Linotype"/>
                <a:cs typeface="Palatino Linotype"/>
              </a:rPr>
              <a:t>Generation</a:t>
            </a:r>
            <a:endParaRPr sz="960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00" y="1562944"/>
            <a:ext cx="4006545" cy="21684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4049740"/>
            <a:ext cx="4006911" cy="219181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6400" y="6559903"/>
            <a:ext cx="4008625" cy="2164995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3598525" y="1498631"/>
            <a:ext cx="2431415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60" b="1">
                <a:latin typeface="Trebuchet MS"/>
                <a:cs typeface="Trebuchet MS"/>
              </a:rPr>
              <a:t>Image</a:t>
            </a:r>
            <a:r>
              <a:rPr dirty="0" sz="2800" spc="-114" b="1">
                <a:latin typeface="Trebuchet MS"/>
                <a:cs typeface="Trebuchet MS"/>
              </a:rPr>
              <a:t> </a:t>
            </a:r>
            <a:r>
              <a:rPr dirty="0" sz="2800" spc="-45" b="1">
                <a:latin typeface="Trebuchet MS"/>
                <a:cs typeface="Trebuchet MS"/>
              </a:rPr>
              <a:t>Creation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98525" y="2407072"/>
            <a:ext cx="3639185" cy="575056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24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generates</a:t>
            </a:r>
            <a:r>
              <a:rPr dirty="0" sz="24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unique</a:t>
            </a:r>
            <a:r>
              <a:rPr dirty="0" sz="24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images </a:t>
            </a:r>
            <a:r>
              <a:rPr dirty="0" sz="2400" spc="7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various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needs.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800" spc="-75" b="1">
                <a:solidFill>
                  <a:srgbClr val="FFFFFF"/>
                </a:solidFill>
                <a:latin typeface="Trebuchet MS"/>
                <a:cs typeface="Trebuchet MS"/>
              </a:rPr>
              <a:t>Dynamic</a:t>
            </a:r>
            <a:r>
              <a:rPr dirty="0" sz="2800" spc="-10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rebuchet MS"/>
                <a:cs typeface="Trebuchet MS"/>
              </a:rPr>
              <a:t>Templates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2800">
              <a:latin typeface="Trebuchet MS"/>
              <a:cs typeface="Trebuchet MS"/>
            </a:endParaRPr>
          </a:p>
          <a:p>
            <a:pPr algn="just" marL="12700" marR="393065">
              <a:lnSpc>
                <a:spcPts val="2850"/>
              </a:lnSpc>
              <a:spcBef>
                <a:spcPts val="5"/>
              </a:spcBef>
            </a:pP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Customizable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templates 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ensure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tailored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branding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experiences.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800" spc="-75" b="1">
                <a:solidFill>
                  <a:srgbClr val="FFFFFF"/>
                </a:solidFill>
                <a:latin typeface="Trebuchet MS"/>
                <a:cs typeface="Trebuchet MS"/>
              </a:rPr>
              <a:t>Visual</a:t>
            </a:r>
            <a:r>
              <a:rPr dirty="0" sz="280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rebuchet MS"/>
                <a:cs typeface="Trebuchet MS"/>
              </a:rPr>
              <a:t>Consistency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2800">
              <a:latin typeface="Trebuchet MS"/>
              <a:cs typeface="Trebuchet MS"/>
            </a:endParaRPr>
          </a:p>
          <a:p>
            <a:pPr algn="just" marL="12700" marR="341630">
              <a:lnSpc>
                <a:spcPts val="2850"/>
              </a:lnSpc>
            </a:pP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Maintain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5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cohesive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style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across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assets.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667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 h="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 h="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92325" y="2393981"/>
            <a:ext cx="5053330" cy="4521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90" b="1">
                <a:latin typeface="Trebuchet MS"/>
                <a:cs typeface="Trebuchet MS"/>
              </a:rPr>
              <a:t>Traditional</a:t>
            </a:r>
            <a:r>
              <a:rPr dirty="0" sz="2800" spc="-150" b="1">
                <a:latin typeface="Trebuchet MS"/>
                <a:cs typeface="Trebuchet MS"/>
              </a:rPr>
              <a:t> </a:t>
            </a:r>
            <a:r>
              <a:rPr dirty="0" sz="2800" spc="-60" b="1">
                <a:latin typeface="Trebuchet MS"/>
                <a:cs typeface="Trebuchet MS"/>
              </a:rPr>
              <a:t>Branding</a:t>
            </a:r>
            <a:r>
              <a:rPr dirty="0" sz="2800" spc="-150" b="1">
                <a:latin typeface="Trebuchet MS"/>
                <a:cs typeface="Trebuchet MS"/>
              </a:rPr>
              <a:t> </a:t>
            </a:r>
            <a:r>
              <a:rPr dirty="0" sz="2800" spc="-20" b="1">
                <a:latin typeface="Trebuchet MS"/>
                <a:cs typeface="Trebuchet MS"/>
              </a:rPr>
              <a:t>Challenges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1724" y="3486150"/>
            <a:ext cx="95250" cy="952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1724" y="3848100"/>
            <a:ext cx="95250" cy="95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1724" y="4210050"/>
            <a:ext cx="95250" cy="95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1724" y="4571999"/>
            <a:ext cx="95250" cy="952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610395" y="3302000"/>
            <a:ext cx="5979160" cy="14770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420370">
              <a:lnSpc>
                <a:spcPts val="2850"/>
              </a:lnSpc>
              <a:spcBef>
                <a:spcPts val="219"/>
              </a:spcBef>
            </a:pP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Manual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processes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lead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inefficiency 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Fragmented</a:t>
            </a:r>
            <a:r>
              <a:rPr dirty="0" sz="24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tools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create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inconsistency 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Slow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turnaround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times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delay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market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entry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60"/>
              </a:lnSpc>
            </a:pP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High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costs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associated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resources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83700" y="3302000"/>
            <a:ext cx="6734175" cy="22009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AI-driven</a:t>
            </a:r>
            <a:r>
              <a:rPr dirty="0" sz="24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approach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automates</a:t>
            </a:r>
            <a:r>
              <a:rPr dirty="0" sz="24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branding</a:t>
            </a:r>
            <a:r>
              <a:rPr dirty="0" sz="24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tasks, 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enhancing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efficiency.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65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ensures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55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cohesive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brand 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presence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across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channels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accelerates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r>
              <a:rPr dirty="0" sz="24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process.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leads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significant</a:t>
            </a:r>
            <a:r>
              <a:rPr dirty="0" sz="240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time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cost</a:t>
            </a:r>
            <a:r>
              <a:rPr dirty="0" sz="240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savings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while</a:t>
            </a:r>
            <a:r>
              <a:rPr dirty="0" sz="24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maintaining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high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quality</a:t>
            </a:r>
            <a:r>
              <a:rPr dirty="0" sz="24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consistency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throughout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branding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efforts.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83700" y="2393981"/>
            <a:ext cx="519938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70" b="1">
                <a:solidFill>
                  <a:srgbClr val="FFFFFF"/>
                </a:solidFill>
                <a:latin typeface="Trebuchet MS"/>
                <a:cs typeface="Trebuchet MS"/>
              </a:rPr>
              <a:t>AI-</a:t>
            </a:r>
            <a:r>
              <a:rPr dirty="0" sz="2800" spc="-135" b="1">
                <a:solidFill>
                  <a:srgbClr val="FFFFFF"/>
                </a:solidFill>
                <a:latin typeface="Trebuchet MS"/>
                <a:cs typeface="Trebuchet MS"/>
              </a:rPr>
              <a:t>Powered</a:t>
            </a:r>
            <a:r>
              <a:rPr dirty="0" sz="280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85" b="1">
                <a:solidFill>
                  <a:srgbClr val="FFFFFF"/>
                </a:solidFill>
                <a:latin typeface="Trebuchet MS"/>
                <a:cs typeface="Trebuchet MS"/>
              </a:rPr>
              <a:t>Integrated</a:t>
            </a:r>
            <a:r>
              <a:rPr dirty="0" sz="2800" spc="-11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25" b="1">
                <a:solidFill>
                  <a:srgbClr val="FFFFFF"/>
                </a:solidFill>
                <a:latin typeface="Trebuchet MS"/>
                <a:cs typeface="Trebuchet MS"/>
              </a:rPr>
              <a:t>Workflow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 h="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96297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 h="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599" y="5121979"/>
            <a:ext cx="17297400" cy="19050"/>
          </a:xfrm>
          <a:custGeom>
            <a:avLst/>
            <a:gdLst/>
            <a:ahLst/>
            <a:cxnLst/>
            <a:rect l="l" t="t" r="r" b="b"/>
            <a:pathLst>
              <a:path w="17297400" h="19050">
                <a:moveTo>
                  <a:pt x="17297399" y="19049"/>
                </a:moveTo>
                <a:lnTo>
                  <a:pt x="0" y="19049"/>
                </a:lnTo>
                <a:lnTo>
                  <a:pt x="0" y="0"/>
                </a:lnTo>
                <a:lnTo>
                  <a:pt x="17297399" y="0"/>
                </a:lnTo>
                <a:lnTo>
                  <a:pt x="17297399" y="190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676275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 h="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9620250"/>
            <a:ext cx="18288000" cy="0"/>
          </a:xfrm>
          <a:custGeom>
            <a:avLst/>
            <a:gdLst/>
            <a:ahLst/>
            <a:cxnLst/>
            <a:rect l="l" t="t" r="r" b="b"/>
            <a:pathLst>
              <a:path w="18288000" h="0">
                <a:moveTo>
                  <a:pt x="0" y="0"/>
                </a:moveTo>
                <a:lnTo>
                  <a:pt x="18287998" y="0"/>
                </a:lnTo>
              </a:path>
            </a:pathLst>
          </a:custGeom>
          <a:ln w="1904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6750" y="4912022"/>
            <a:ext cx="439420" cy="439420"/>
          </a:xfrm>
          <a:custGeom>
            <a:avLst/>
            <a:gdLst/>
            <a:ahLst/>
            <a:cxnLst/>
            <a:rect l="l" t="t" r="r" b="b"/>
            <a:pathLst>
              <a:path w="439419" h="439420">
                <a:moveTo>
                  <a:pt x="219483" y="438967"/>
                </a:moveTo>
                <a:lnTo>
                  <a:pt x="0" y="219483"/>
                </a:lnTo>
                <a:lnTo>
                  <a:pt x="219483" y="0"/>
                </a:lnTo>
                <a:lnTo>
                  <a:pt x="438967" y="219483"/>
                </a:lnTo>
                <a:lnTo>
                  <a:pt x="219483" y="4389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81575" y="4912022"/>
            <a:ext cx="439420" cy="439420"/>
          </a:xfrm>
          <a:custGeom>
            <a:avLst/>
            <a:gdLst/>
            <a:ahLst/>
            <a:cxnLst/>
            <a:rect l="l" t="t" r="r" b="b"/>
            <a:pathLst>
              <a:path w="439420" h="439420">
                <a:moveTo>
                  <a:pt x="219483" y="438967"/>
                </a:moveTo>
                <a:lnTo>
                  <a:pt x="0" y="219483"/>
                </a:lnTo>
                <a:lnTo>
                  <a:pt x="219483" y="0"/>
                </a:lnTo>
                <a:lnTo>
                  <a:pt x="438967" y="219483"/>
                </a:lnTo>
                <a:lnTo>
                  <a:pt x="219483" y="4389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296399" y="4912022"/>
            <a:ext cx="439420" cy="439420"/>
          </a:xfrm>
          <a:custGeom>
            <a:avLst/>
            <a:gdLst/>
            <a:ahLst/>
            <a:cxnLst/>
            <a:rect l="l" t="t" r="r" b="b"/>
            <a:pathLst>
              <a:path w="439420" h="439420">
                <a:moveTo>
                  <a:pt x="219483" y="438967"/>
                </a:moveTo>
                <a:lnTo>
                  <a:pt x="0" y="219483"/>
                </a:lnTo>
                <a:lnTo>
                  <a:pt x="219483" y="0"/>
                </a:lnTo>
                <a:lnTo>
                  <a:pt x="438967" y="219483"/>
                </a:lnTo>
                <a:lnTo>
                  <a:pt x="219483" y="4389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612040" y="4912022"/>
            <a:ext cx="439420" cy="439420"/>
          </a:xfrm>
          <a:custGeom>
            <a:avLst/>
            <a:gdLst/>
            <a:ahLst/>
            <a:cxnLst/>
            <a:rect l="l" t="t" r="r" b="b"/>
            <a:pathLst>
              <a:path w="439419" h="439420">
                <a:moveTo>
                  <a:pt x="219484" y="438967"/>
                </a:moveTo>
                <a:lnTo>
                  <a:pt x="0" y="219483"/>
                </a:lnTo>
                <a:lnTo>
                  <a:pt x="219484" y="0"/>
                </a:lnTo>
                <a:lnTo>
                  <a:pt x="438966" y="219483"/>
                </a:lnTo>
                <a:lnTo>
                  <a:pt x="219484" y="4389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0"/>
              <a:t>User</a:t>
            </a:r>
            <a:r>
              <a:rPr dirty="0" spc="-1100"/>
              <a:t> </a:t>
            </a:r>
            <a:r>
              <a:rPr dirty="0" spc="-1019"/>
              <a:t>Journey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54049" y="3875404"/>
            <a:ext cx="8413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25" b="1">
                <a:solidFill>
                  <a:srgbClr val="FFFFFF"/>
                </a:solidFill>
                <a:latin typeface="Arial"/>
                <a:cs typeface="Arial"/>
              </a:rPr>
              <a:t>Vision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4049" y="5842704"/>
            <a:ext cx="2835275" cy="111506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Input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 brand 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vision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guide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AI's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creative</a:t>
            </a:r>
            <a:r>
              <a:rPr dirty="0" sz="24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process.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68874" y="3875404"/>
            <a:ext cx="15557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Generation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68874" y="5842704"/>
            <a:ext cx="2536190" cy="14770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00" spc="-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24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generates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brand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identity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guidelines seamlessly.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83700" y="3875404"/>
            <a:ext cx="12090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5" b="1">
                <a:solidFill>
                  <a:srgbClr val="FFFFFF"/>
                </a:solidFill>
                <a:latin typeface="Arial"/>
                <a:cs typeface="Arial"/>
              </a:rPr>
              <a:t>Creation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98525" y="3875404"/>
            <a:ext cx="977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30" b="1">
                <a:solidFill>
                  <a:srgbClr val="FFFFFF"/>
                </a:solidFill>
                <a:latin typeface="Arial"/>
                <a:cs typeface="Arial"/>
              </a:rPr>
              <a:t>Review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83700" y="5842704"/>
            <a:ext cx="2646680" cy="14770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dirty="0" sz="24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visuals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2400" spc="-1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automatically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created</a:t>
            </a:r>
            <a:r>
              <a:rPr dirty="0" sz="240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on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brand's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needs.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598525" y="5842704"/>
            <a:ext cx="2691130" cy="14770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Customize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launch</a:t>
            </a:r>
            <a:r>
              <a:rPr dirty="0" sz="24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brand </a:t>
            </a:r>
            <a:r>
              <a:rPr dirty="0" sz="2400" spc="-114">
                <a:solidFill>
                  <a:srgbClr val="FFFFFF"/>
                </a:solidFill>
                <a:latin typeface="Arial"/>
                <a:cs typeface="Arial"/>
              </a:rPr>
              <a:t>assets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45">
                <a:solidFill>
                  <a:srgbClr val="FFFFFF"/>
                </a:solidFill>
                <a:latin typeface="Arial"/>
                <a:cs typeface="Arial"/>
              </a:rPr>
              <a:t>ease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efficiency.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54049" y="1529289"/>
            <a:ext cx="4630420" cy="2707640"/>
          </a:xfrm>
          <a:prstGeom prst="rect"/>
        </p:spPr>
        <p:txBody>
          <a:bodyPr wrap="square" lIns="0" tIns="256540" rIns="0" bIns="0" rtlCol="0" vert="horz">
            <a:spAutoFit/>
          </a:bodyPr>
          <a:lstStyle/>
          <a:p>
            <a:pPr marL="12700" marR="5080">
              <a:lnSpc>
                <a:spcPts val="9600"/>
              </a:lnSpc>
              <a:spcBef>
                <a:spcPts val="2020"/>
              </a:spcBef>
            </a:pPr>
            <a:r>
              <a:rPr dirty="0" spc="-1320"/>
              <a:t>Get</a:t>
            </a:r>
            <a:r>
              <a:rPr dirty="0" spc="-1100"/>
              <a:t> </a:t>
            </a:r>
            <a:r>
              <a:rPr dirty="0" spc="-985"/>
              <a:t>Started </a:t>
            </a:r>
            <a:r>
              <a:rPr dirty="0" spc="-1730"/>
              <a:t>T</a:t>
            </a:r>
            <a:r>
              <a:rPr dirty="0" spc="-1340"/>
              <a:t>o</a:t>
            </a:r>
            <a:r>
              <a:rPr dirty="0" spc="-1355"/>
              <a:t>d</a:t>
            </a:r>
            <a:r>
              <a:rPr dirty="0" spc="-1550"/>
              <a:t>a</a:t>
            </a:r>
            <a:r>
              <a:rPr dirty="0" spc="-1095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049" y="6146831"/>
            <a:ext cx="5095240" cy="2556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95" b="1">
                <a:solidFill>
                  <a:srgbClr val="FFFFFF"/>
                </a:solidFill>
                <a:latin typeface="Trebuchet MS"/>
                <a:cs typeface="Trebuchet MS"/>
              </a:rPr>
              <a:t>Empower</a:t>
            </a:r>
            <a:r>
              <a:rPr dirty="0" sz="2800" spc="-10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120" b="1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dirty="0" sz="2800" spc="-10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2800" spc="-10" b="1">
                <a:solidFill>
                  <a:srgbClr val="FFFFFF"/>
                </a:solidFill>
                <a:latin typeface="Trebuchet MS"/>
                <a:cs typeface="Trebuchet MS"/>
              </a:rPr>
              <a:t>Brand</a:t>
            </a:r>
            <a:endParaRPr sz="2800">
              <a:latin typeface="Trebuchet MS"/>
              <a:cs typeface="Trebuchet MS"/>
            </a:endParaRPr>
          </a:p>
          <a:p>
            <a:pPr marL="12700" marR="5080">
              <a:lnSpc>
                <a:spcPts val="2850"/>
              </a:lnSpc>
              <a:spcBef>
                <a:spcPts val="2410"/>
              </a:spcBef>
            </a:pP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Experience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future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branding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our</a:t>
            </a:r>
            <a:r>
              <a:rPr dirty="0" sz="2400" spc="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AI-driven</a:t>
            </a:r>
            <a:r>
              <a:rPr dirty="0" sz="2400" spc="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platform.</a:t>
            </a:r>
            <a:r>
              <a:rPr dirty="0" sz="2400" spc="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90" b="1">
                <a:solidFill>
                  <a:srgbClr val="FFFFFF"/>
                </a:solidFill>
                <a:latin typeface="Arial"/>
                <a:cs typeface="Arial"/>
              </a:rPr>
              <a:t>Simplify</a:t>
            </a:r>
            <a:r>
              <a:rPr dirty="0" sz="2400" spc="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 b="1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400" spc="-114" b="1">
                <a:solidFill>
                  <a:srgbClr val="FFFFFF"/>
                </a:solidFill>
                <a:latin typeface="Arial"/>
                <a:cs typeface="Arial"/>
              </a:rPr>
              <a:t>enhance</a:t>
            </a:r>
            <a:r>
              <a:rPr dirty="0" sz="2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branding</a:t>
            </a: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process, 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ensuring</a:t>
            </a:r>
            <a:r>
              <a:rPr dirty="0" sz="24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55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strong</a:t>
            </a:r>
            <a:r>
              <a:rPr dirty="0" sz="2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identity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visual </a:t>
            </a:r>
            <a:r>
              <a:rPr dirty="0" sz="2400" spc="-55">
                <a:solidFill>
                  <a:srgbClr val="FFFFFF"/>
                </a:solidFill>
                <a:latin typeface="Arial"/>
                <a:cs typeface="Arial"/>
              </a:rPr>
              <a:t>appeal</a:t>
            </a:r>
            <a:r>
              <a:rPr dirty="0" sz="2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7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dirty="0" sz="24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business.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5" name="object 5"/>
            <p:cNvSpPr/>
            <p:nvPr/>
          </p:nvSpPr>
          <p:spPr>
            <a:xfrm>
              <a:off x="0" y="676274"/>
              <a:ext cx="12172950" cy="0"/>
            </a:xfrm>
            <a:custGeom>
              <a:avLst/>
              <a:gdLst/>
              <a:ahLst/>
              <a:cxnLst/>
              <a:rect l="l" t="t" r="r" b="b"/>
              <a:pathLst>
                <a:path w="12172950" h="0">
                  <a:moveTo>
                    <a:pt x="0" y="0"/>
                  </a:moveTo>
                  <a:lnTo>
                    <a:pt x="1217294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9629774"/>
              <a:ext cx="12172950" cy="0"/>
            </a:xfrm>
            <a:custGeom>
              <a:avLst/>
              <a:gdLst/>
              <a:ahLst/>
              <a:cxnLst/>
              <a:rect l="l" t="t" r="r" b="b"/>
              <a:pathLst>
                <a:path w="12172950" h="0">
                  <a:moveTo>
                    <a:pt x="0" y="0"/>
                  </a:moveTo>
                  <a:lnTo>
                    <a:pt x="12172949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58125" y="0"/>
              <a:ext cx="10429874" cy="102869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58125" y="0"/>
              <a:ext cx="10429874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676274"/>
              <a:ext cx="7858125" cy="0"/>
            </a:xfrm>
            <a:custGeom>
              <a:avLst/>
              <a:gdLst/>
              <a:ahLst/>
              <a:cxnLst/>
              <a:rect l="l" t="t" r="r" b="b"/>
              <a:pathLst>
                <a:path w="7858125" h="0">
                  <a:moveTo>
                    <a:pt x="0" y="0"/>
                  </a:moveTo>
                  <a:lnTo>
                    <a:pt x="7858124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9629774"/>
              <a:ext cx="7858125" cy="0"/>
            </a:xfrm>
            <a:custGeom>
              <a:avLst/>
              <a:gdLst/>
              <a:ahLst/>
              <a:cxnLst/>
              <a:rect l="l" t="t" r="r" b="b"/>
              <a:pathLst>
                <a:path w="7858125" h="0">
                  <a:moveTo>
                    <a:pt x="0" y="0"/>
                  </a:moveTo>
                  <a:lnTo>
                    <a:pt x="7858124" y="0"/>
                  </a:lnTo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65"/>
              <a:t>Thank</a:t>
            </a:r>
            <a:r>
              <a:rPr dirty="0" spc="-1105"/>
              <a:t> </a:t>
            </a:r>
            <a:r>
              <a:rPr dirty="0" spc="-2130"/>
              <a:t>Y</a:t>
            </a:r>
            <a:r>
              <a:rPr dirty="0" spc="-1545"/>
              <a:t>o</a:t>
            </a:r>
            <a:r>
              <a:rPr dirty="0" spc="-1300"/>
              <a:t>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4049" y="3302000"/>
            <a:ext cx="4535805" cy="75311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dirty="0" sz="2400" spc="-35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30">
                <a:solidFill>
                  <a:srgbClr val="FFFFFF"/>
                </a:solidFill>
                <a:latin typeface="Arial"/>
                <a:cs typeface="Arial"/>
              </a:rPr>
              <a:t>appreciate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dirty="0" sz="24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interest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4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our branding</a:t>
            </a:r>
            <a:r>
              <a:rPr dirty="0" sz="24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platform.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049" y="7588250"/>
            <a:ext cx="4523740" cy="1115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dirty="0" sz="2400" spc="-50">
                <a:solidFill>
                  <a:srgbClr val="FFFFFF"/>
                </a:solidFill>
                <a:latin typeface="Arial"/>
                <a:cs typeface="Arial"/>
              </a:rPr>
              <a:t>Phone:</a:t>
            </a:r>
            <a:r>
              <a:rPr dirty="0" sz="2400" spc="1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123-456-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7890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2850"/>
              </a:lnSpc>
              <a:spcBef>
                <a:spcPts val="105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Email:</a:t>
            </a:r>
            <a:r>
              <a:rPr dirty="0" sz="240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  <a:hlinkClick r:id="rId3"/>
              </a:rPr>
              <a:t>hello@reallygreatsite.com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Website:</a:t>
            </a:r>
            <a:r>
              <a:rPr dirty="0" sz="24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  <a:hlinkClick r:id="rId4"/>
              </a:rPr>
              <a:t>www.reallygreatsite.com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khana</dc:creator>
  <cp:keywords>DAHCZDLJiZc,BAHCZCAO-W4,0</cp:keywords>
  <dc:title>Presentation - Revolutionizing Branding</dc:title>
  <dcterms:created xsi:type="dcterms:W3CDTF">2026-02-26T06:05:45Z</dcterms:created>
  <dcterms:modified xsi:type="dcterms:W3CDTF">2026-02-26T06:05:45Z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2026-02-26T00:00:00Z</vt:filetime>
  </property>
  <property fmtid="{D5CDD505-2E9C-101B-9397-08002B2CF9AE}" pid="3" name="Creator">
    <vt:lpwstr>Canva</vt:lpwstr>
  </property>
  <property fmtid="{D5CDD505-2E9C-101B-9397-08002B2CF9AE}" pid="4" name="LastSaved">
    <vt:filetime>2026-02-26T00:00:00Z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